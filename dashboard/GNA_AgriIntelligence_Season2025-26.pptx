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79008"/>
            <a:ext cx="6094476" cy="1078992"/>
          </a:xfrm>
          <a:prstGeom prst="rect">
            <a:avLst/>
          </a:prstGeom>
          <a:solidFill>
            <a:srgbClr val="1A2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" y="1298448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777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3167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AF49"/>
                </a:solidFill>
                <a:latin typeface="Calibri"/>
              </a:rPr>
              <a:t>GOOD NATURE AGRO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60934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E48A"/>
                </a:solidFill>
                <a:latin typeface="Calibri"/>
              </a:rPr>
              <a:t>Zambia · Agri-Intelligence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359152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Season 2025/26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907792"/>
            <a:ext cx="5943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8E48A"/>
                </a:solidFill>
                <a:latin typeface="Calibri"/>
              </a:rPr>
              <a:t>Leadership Briefing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4114800"/>
            <a:ext cx="1783080" cy="274320"/>
          </a:xfrm>
          <a:prstGeom prst="roundRect">
            <a:avLst>
              <a:gd name="adj" fmla="val 30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151376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May 2026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" y="5888736"/>
            <a:ext cx="18486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6AF49"/>
                </a:solidFill>
                <a:latin typeface="Calibri"/>
              </a:rPr>
              <a:t>22.6K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" y="6382512"/>
            <a:ext cx="18486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active farmers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31492" y="5870448"/>
            <a:ext cx="6350" cy="658368"/>
          </a:xfrm>
          <a:prstGeom prst="rect">
            <a:avLst/>
          </a:prstGeom>
          <a:solidFill>
            <a:srgbClr val="DD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6084" y="5888736"/>
            <a:ext cx="18486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6AF49"/>
                </a:solidFill>
                <a:latin typeface="Calibri"/>
              </a:rPr>
              <a:t>77%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6084" y="6382512"/>
            <a:ext cx="18486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buyback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2984" y="5870448"/>
            <a:ext cx="6350" cy="658368"/>
          </a:xfrm>
          <a:prstGeom prst="rect">
            <a:avLst/>
          </a:prstGeom>
          <a:solidFill>
            <a:srgbClr val="DD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27576" y="5888736"/>
            <a:ext cx="18486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6AF49"/>
                </a:solidFill>
                <a:latin typeface="Calibri"/>
              </a:rPr>
              <a:t>6.1K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7576" y="6382512"/>
            <a:ext cx="18486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high-risk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034" y="6601968"/>
            <a:ext cx="536313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50" b="0" i="1">
                <a:solidFill>
                  <a:srgbClr val="AAAAAA"/>
                </a:solidFill>
                <a:latin typeface="Calibri"/>
              </a:rPr>
              <a:t>Photo: Good Nature Agro / Zambia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75488" y="896112"/>
            <a:ext cx="2807893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96112"/>
            <a:ext cx="2807893" cy="45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AF49"/>
                </a:solidFill>
                <a:latin typeface="Calibri"/>
              </a:rPr>
              <a:t>ACTIVE FARMERS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43584"/>
            <a:ext cx="247870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2D5016"/>
                </a:solidFill>
                <a:latin typeface="Calibri"/>
              </a:rPr>
              <a:t>22.6K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enrolled this season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541" y="896112"/>
            <a:ext cx="2807893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541" y="896112"/>
            <a:ext cx="2807893" cy="4572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1024128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AF49"/>
                </a:solidFill>
                <a:latin typeface="Calibri"/>
              </a:rPr>
              <a:t>BUYBACK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5133" y="1243584"/>
            <a:ext cx="247870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86AF49"/>
                </a:solidFill>
                <a:latin typeface="Calibri"/>
              </a:rPr>
              <a:t>77%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5133" y="1920240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sold back to GNA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3858768"/>
            <a:ext cx="2807893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" y="3858768"/>
            <a:ext cx="2807893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986784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AF49"/>
                </a:solidFill>
                <a:latin typeface="Calibri"/>
              </a:rPr>
              <a:t>HIGH-RISK FARMERS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247870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87171"/>
                </a:solidFill>
                <a:latin typeface="Calibri"/>
              </a:rPr>
              <a:t>6.1K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82896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need field visit now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0541" y="3858768"/>
            <a:ext cx="2807893" cy="27980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20541" y="3858768"/>
            <a:ext cx="2807893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5133" y="3986784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6AF49"/>
                </a:solidFill>
                <a:latin typeface="Calibri"/>
              </a:rPr>
              <a:t>IN-KIND GAP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5133" y="4206240"/>
            <a:ext cx="247870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BBF24"/>
                </a:solidFill>
                <a:latin typeface="Calibri"/>
              </a:rPr>
              <a:t>16%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5133" y="4882896"/>
            <a:ext cx="247870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cannot cover repayment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3371" y="6565392"/>
            <a:ext cx="4631801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CCCCCC"/>
                </a:solidFill>
                <a:latin typeface="Calibri"/>
              </a:rPr>
              <a:t>GNA farmer · Zambia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Season at a Glance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2025/26 · Zambia · 22,597 farmers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" y="877824"/>
            <a:ext cx="2101291" cy="26517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77824"/>
            <a:ext cx="2101291" cy="594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005840"/>
            <a:ext cx="18452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ZONE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1615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Gwembe &amp; Luangwa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426464"/>
            <a:ext cx="18452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BBF24"/>
                </a:solidFill>
                <a:latin typeface="Calibri"/>
              </a:rPr>
              <a:t>0.38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08483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risk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" y="2322576"/>
            <a:ext cx="1845259" cy="237744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322576"/>
            <a:ext cx="18452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670048"/>
            <a:ext cx="1845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4,102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944367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farmers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" y="3163824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" y="3163824"/>
            <a:ext cx="1365491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3291840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Inoculant 74%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9659" y="877824"/>
            <a:ext cx="2101291" cy="2651760"/>
          </a:xfrm>
          <a:prstGeom prst="roundRect">
            <a:avLst>
              <a:gd name="adj" fmla="val 8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9659" y="877824"/>
            <a:ext cx="2101291" cy="59436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7675" y="1005840"/>
            <a:ext cx="18452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6AF49"/>
                </a:solidFill>
                <a:latin typeface="Calibri"/>
              </a:rPr>
              <a:t>ZONE 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7675" y="121615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Northern Province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7675" y="1426464"/>
            <a:ext cx="18452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6AF49"/>
                </a:solidFill>
                <a:latin typeface="Calibri"/>
              </a:rPr>
              <a:t>0.34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7675" y="208483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risk score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7675" y="2322576"/>
            <a:ext cx="1845259" cy="237744"/>
          </a:xfrm>
          <a:prstGeom prst="roundRect">
            <a:avLst>
              <a:gd name="adj" fmla="val 30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87675" y="2322576"/>
            <a:ext cx="18452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7675" y="2670048"/>
            <a:ext cx="1845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3,618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7675" y="2944367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farmers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87675" y="3163824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87675" y="3163824"/>
            <a:ext cx="1439302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7675" y="3291840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Inoculant 78%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3830" y="877824"/>
            <a:ext cx="2101291" cy="265176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43830" y="877824"/>
            <a:ext cx="2101291" cy="5943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71846" y="1005840"/>
            <a:ext cx="18452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87171"/>
                </a:solidFill>
                <a:latin typeface="Calibri"/>
              </a:rPr>
              <a:t>ZONE IIa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71846" y="121615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Central Plateau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1846" y="1426464"/>
            <a:ext cx="18452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87171"/>
                </a:solidFill>
                <a:latin typeface="Calibri"/>
              </a:rPr>
              <a:t>0.52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1846" y="208483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risk 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71846" y="2322576"/>
            <a:ext cx="1845259" cy="237744"/>
          </a:xfrm>
          <a:prstGeom prst="roundRect">
            <a:avLst>
              <a:gd name="adj" fmla="val 3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71846" y="2322576"/>
            <a:ext cx="18452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URGENT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1846" y="2670048"/>
            <a:ext cx="1845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7,841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71846" y="2944367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farmers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71846" y="3163824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1846" y="3163824"/>
            <a:ext cx="1125608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1846" y="3291840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Inoculant 61%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28001" y="877824"/>
            <a:ext cx="2101291" cy="2651760"/>
          </a:xfrm>
          <a:prstGeom prst="roundRect">
            <a:avLst>
              <a:gd name="adj" fmla="val 8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28001" y="877824"/>
            <a:ext cx="2101291" cy="59436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56017" y="1005840"/>
            <a:ext cx="18452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6AF49"/>
                </a:solidFill>
                <a:latin typeface="Calibri"/>
              </a:rPr>
              <a:t>ZONE IIb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6017" y="121615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Southern Plateau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6017" y="1426464"/>
            <a:ext cx="18452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86AF49"/>
                </a:solidFill>
                <a:latin typeface="Calibri"/>
              </a:rPr>
              <a:t>0.29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6017" y="208483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risk score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6017" y="2322576"/>
            <a:ext cx="1845259" cy="237744"/>
          </a:xfrm>
          <a:prstGeom prst="roundRect">
            <a:avLst>
              <a:gd name="adj" fmla="val 30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456017" y="2322576"/>
            <a:ext cx="18452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56017" y="2670048"/>
            <a:ext cx="1845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5,230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56017" y="2944367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farmers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6017" y="3163824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56017" y="3163824"/>
            <a:ext cx="1513112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56017" y="3291840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Inoculant 82%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612172" y="877824"/>
            <a:ext cx="2101291" cy="26517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12172" y="877824"/>
            <a:ext cx="2101291" cy="5943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40188" y="1005840"/>
            <a:ext cx="18452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ZONE IV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0188" y="121615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Western Barotse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40188" y="1426464"/>
            <a:ext cx="184525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BBF24"/>
                </a:solidFill>
                <a:latin typeface="Calibri"/>
              </a:rPr>
              <a:t>0.41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40188" y="2084832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risk score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40188" y="2322576"/>
            <a:ext cx="1845259" cy="237744"/>
          </a:xfrm>
          <a:prstGeom prst="roundRect">
            <a:avLst>
              <a:gd name="adj" fmla="val 3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40188" y="2322576"/>
            <a:ext cx="18452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WATCH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40188" y="2670048"/>
            <a:ext cx="18452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1,806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40188" y="2944367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88"/>
                </a:solidFill>
                <a:latin typeface="Calibri"/>
              </a:rPr>
              <a:t>farmers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740188" y="3163824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740188" y="3163824"/>
            <a:ext cx="1273228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40188" y="3291840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Inoculant 69%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5488" y="3602736"/>
            <a:ext cx="11237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HIGH-RISK FARMER COUNT BY ZONE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822192"/>
            <a:ext cx="11237976" cy="2871216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Zone Risk Overview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Risk scores · 22,597 farmers · 5 zones · Season 2025/26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" y="877824"/>
            <a:ext cx="2706624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77824"/>
            <a:ext cx="2706624" cy="54864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5016"/>
                </a:solidFill>
                <a:latin typeface="Calibri"/>
              </a:rPr>
              <a:t>INOCULANT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261872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86AF49"/>
                </a:solidFill>
                <a:latin typeface="Calibri"/>
              </a:rPr>
              <a:t>+486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kg/ha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59152"/>
            <a:ext cx="2377440" cy="109728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359152"/>
            <a:ext cx="1687982" cy="109728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237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6AF49"/>
                </a:solidFill>
                <a:latin typeface="Calibri"/>
              </a:rPr>
              <a:t>71%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9272" y="877824"/>
            <a:ext cx="2706624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9272" y="877824"/>
            <a:ext cx="2706624" cy="54864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10058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5016"/>
                </a:solidFill>
                <a:latin typeface="Calibri"/>
              </a:rPr>
              <a:t>FERTILIZER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1261872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60A5FA"/>
                </a:solidFill>
                <a:latin typeface="Calibri"/>
              </a:rPr>
              <a:t>+351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3864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kg/ha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83864" y="2359152"/>
            <a:ext cx="2377440" cy="109728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83864" y="2359152"/>
            <a:ext cx="1616659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3864" y="25237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0A5FA"/>
                </a:solidFill>
                <a:latin typeface="Calibri"/>
              </a:rPr>
              <a:t>68% adoption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877824"/>
            <a:ext cx="2706624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63056" y="877824"/>
            <a:ext cx="2706624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10058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5016"/>
                </a:solidFill>
                <a:latin typeface="Calibri"/>
              </a:rPr>
              <a:t>FUNGICIDE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1261872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BBF24"/>
                </a:solidFill>
                <a:latin typeface="Calibri"/>
              </a:rPr>
              <a:t>+233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kg/ha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7648" y="2359152"/>
            <a:ext cx="2377440" cy="109728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27648" y="2359152"/>
            <a:ext cx="1046073" cy="109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5237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Calibri"/>
              </a:rPr>
              <a:t>44% adoption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6840" y="877824"/>
            <a:ext cx="2706624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06840" y="877824"/>
            <a:ext cx="2706624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71432" y="1005840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5016"/>
                </a:solidFill>
                <a:latin typeface="Calibri"/>
              </a:rPr>
              <a:t>SEED GUARD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4856" y="1261872"/>
            <a:ext cx="245059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A78BFA"/>
                </a:solidFill>
                <a:latin typeface="Calibri"/>
              </a:rPr>
              <a:t>+151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1432" y="2029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Calibri"/>
              </a:rPr>
              <a:t>kg/ha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71432" y="2359152"/>
            <a:ext cx="2377440" cy="109728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71432" y="2359152"/>
            <a:ext cx="1307592" cy="10972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71432" y="252374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78BFA"/>
                </a:solidFill>
                <a:latin typeface="Calibri"/>
              </a:rPr>
              <a:t>55% adoption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" y="2980944"/>
            <a:ext cx="11237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YIELD LIFT VS. ADOPTION RATE PER INPUT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200400"/>
            <a:ext cx="11237976" cy="349300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Input Effectiveness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Measured yield lift across GNA farmers · Season 2025/26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" y="877824"/>
            <a:ext cx="2101291" cy="1737360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77824"/>
            <a:ext cx="2101291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005840"/>
            <a:ext cx="18452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ZONE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243584"/>
            <a:ext cx="18818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BBF24"/>
                </a:solidFill>
                <a:latin typeface="Calibri"/>
              </a:rPr>
              <a:t>-6%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975104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vs avg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267712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3504" y="2267712"/>
            <a:ext cx="1732698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414016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992 mm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59659" y="877824"/>
            <a:ext cx="2101291" cy="1737360"/>
          </a:xfrm>
          <a:prstGeom prst="roundRect">
            <a:avLst>
              <a:gd name="adj" fmla="val 9000"/>
            </a:avLst>
          </a:prstGeom>
          <a:solidFill>
            <a:srgbClr val="FEF2F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59659" y="877824"/>
            <a:ext cx="2101291" cy="54864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7675" y="1005840"/>
            <a:ext cx="18452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87171"/>
                </a:solidFill>
                <a:latin typeface="Calibri"/>
              </a:rPr>
              <a:t>ZONE IIa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9387" y="1243584"/>
            <a:ext cx="18818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87171"/>
                </a:solidFill>
                <a:latin typeface="Calibri"/>
              </a:rPr>
              <a:t>-20%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7675" y="1975104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vs avg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7675" y="2267712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7675" y="2267712"/>
            <a:ext cx="1478052" cy="91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7675" y="2414016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751 mm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3830" y="877824"/>
            <a:ext cx="2101291" cy="1737360"/>
          </a:xfrm>
          <a:prstGeom prst="roundRect">
            <a:avLst>
              <a:gd name="adj" fmla="val 9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43830" y="877824"/>
            <a:ext cx="2101291" cy="54864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71846" y="1005840"/>
            <a:ext cx="18452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AF49"/>
                </a:solidFill>
                <a:latin typeface="Calibri"/>
              </a:rPr>
              <a:t>ZONE IIb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3558" y="1243584"/>
            <a:ext cx="18818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6AF49"/>
                </a:solidFill>
                <a:latin typeface="Calibri"/>
              </a:rPr>
              <a:t>-4%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1846" y="1975104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vs avg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71846" y="2267712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71846" y="2267712"/>
            <a:ext cx="1767758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71846" y="2414016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813 mm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8001" y="877824"/>
            <a:ext cx="2101291" cy="1737360"/>
          </a:xfrm>
          <a:prstGeom prst="roundRect">
            <a:avLst>
              <a:gd name="adj" fmla="val 9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28001" y="877824"/>
            <a:ext cx="2101291" cy="54864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6017" y="1005840"/>
            <a:ext cx="18452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AF49"/>
                </a:solidFill>
                <a:latin typeface="Calibri"/>
              </a:rPr>
              <a:t>ZONE 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7729" y="1243584"/>
            <a:ext cx="18818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86AF49"/>
                </a:solidFill>
                <a:latin typeface="Calibri"/>
              </a:rPr>
              <a:t>-3%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6017" y="1975104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vs avg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6017" y="2267712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56017" y="2267712"/>
            <a:ext cx="1793591" cy="91440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6017" y="2414016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1286 mm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2172" y="877824"/>
            <a:ext cx="2101291" cy="1737360"/>
          </a:xfrm>
          <a:prstGeom prst="roundRect">
            <a:avLst>
              <a:gd name="adj" fmla="val 9000"/>
            </a:avLst>
          </a:prstGeom>
          <a:solidFill>
            <a:srgbClr val="FFFBEB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12172" y="877824"/>
            <a:ext cx="2101291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40188" y="1005840"/>
            <a:ext cx="18452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BF24"/>
                </a:solidFill>
                <a:latin typeface="Calibri"/>
              </a:rPr>
              <a:t>ZONE IV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1900" y="1243584"/>
            <a:ext cx="188183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BBF24"/>
                </a:solidFill>
                <a:latin typeface="Calibri"/>
              </a:rPr>
              <a:t>-9%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40188" y="1975104"/>
            <a:ext cx="184525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vs avg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40188" y="2267712"/>
            <a:ext cx="1845259" cy="91440"/>
          </a:xfrm>
          <a:prstGeom prst="rect">
            <a:avLst/>
          </a:prstGeom>
          <a:solidFill>
            <a:srgbClr val="EE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740188" y="2267712"/>
            <a:ext cx="167734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0188" y="2414016"/>
            <a:ext cx="184525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  <a:latin typeface="Calibri"/>
              </a:rPr>
              <a:t>696 mm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5488" y="2688336"/>
            <a:ext cx="1123797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MONTHLY RAINFALL  ·  ZONE IIA VS ZONE IIB VS HISTORICAL AVERAGE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07792"/>
            <a:ext cx="11237976" cy="378561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Rainfall &amp; Zone Conditions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Actual vs. historical average · Nov 2025 – Apr 2026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35631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FARMER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77824"/>
            <a:ext cx="3563112" cy="1353312"/>
          </a:xfrm>
          <a:prstGeom prst="roundRect">
            <a:avLst>
              <a:gd name="adj" fmla="val 7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75488" y="877824"/>
            <a:ext cx="45720" cy="1353312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" y="969264"/>
            <a:ext cx="1425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6AF49"/>
                </a:solidFill>
                <a:latin typeface="Calibri"/>
              </a:rPr>
              <a:t>ELITE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14519" y="932688"/>
            <a:ext cx="997671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6AF49"/>
                </a:solidFill>
                <a:latin typeface="Calibri"/>
              </a:rPr>
              <a:t>41%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975104"/>
            <a:ext cx="1959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2,260 farmers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4519" y="1975104"/>
            <a:ext cx="17815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of volume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2322576"/>
            <a:ext cx="3563112" cy="1353312"/>
          </a:xfrm>
          <a:prstGeom prst="roundRect">
            <a:avLst>
              <a:gd name="adj" fmla="val 7000"/>
            </a:avLst>
          </a:prstGeom>
          <a:solidFill>
            <a:srgbClr val="EFF6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" y="2322576"/>
            <a:ext cx="45720" cy="135331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414016"/>
            <a:ext cx="1425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0A5FA"/>
                </a:solidFill>
                <a:latin typeface="Calibri"/>
              </a:rPr>
              <a:t>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19" y="2377440"/>
            <a:ext cx="997671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  <a:latin typeface="Calibri"/>
              </a:rPr>
              <a:t>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419856"/>
            <a:ext cx="1959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6,779 farmers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4519" y="3419856"/>
            <a:ext cx="17815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of 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3767328"/>
            <a:ext cx="3563112" cy="1353312"/>
          </a:xfrm>
          <a:prstGeom prst="roundRect">
            <a:avLst>
              <a:gd name="adj" fmla="val 7000"/>
            </a:avLst>
          </a:prstGeom>
          <a:solidFill>
            <a:srgbClr val="F5F3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5488" y="3767328"/>
            <a:ext cx="45720" cy="135331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858768"/>
            <a:ext cx="1425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14519" y="3822192"/>
            <a:ext cx="997671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" y="4864608"/>
            <a:ext cx="1959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9,039 farmers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19" y="4864608"/>
            <a:ext cx="17815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of volume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5212080"/>
            <a:ext cx="3563112" cy="1353312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5212080"/>
            <a:ext cx="45720" cy="13533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5303520"/>
            <a:ext cx="14252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87171"/>
                </a:solidFill>
                <a:latin typeface="Calibri"/>
              </a:rPr>
              <a:t>AT-RISK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14519" y="5266944"/>
            <a:ext cx="997671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Calibri"/>
              </a:rPr>
              <a:t>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6309360"/>
            <a:ext cx="1959711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  <a:latin typeface="Calibri"/>
              </a:rPr>
              <a:t>4,519 farmers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14519" y="6309360"/>
            <a:ext cx="17815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of volume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2920" y="658368"/>
            <a:ext cx="35631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PROCUREMENT FUNNEL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877824"/>
            <a:ext cx="3563112" cy="577900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50352" y="658368"/>
            <a:ext cx="35631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FINANCIAL EXPOSURE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0352" y="877824"/>
            <a:ext cx="356311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0352" y="877824"/>
            <a:ext cx="3563112" cy="4572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8368" y="987552"/>
            <a:ext cx="3307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  <a:latin typeface="Calibri"/>
              </a:rPr>
              <a:t>TOTAL LOAN 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8368" y="1188720"/>
            <a:ext cx="3307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D5016"/>
                </a:solidFill>
                <a:latin typeface="Calibri"/>
              </a:rPr>
              <a:t>$2.8M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50352" y="1975104"/>
            <a:ext cx="356311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50352" y="1975104"/>
            <a:ext cx="3563112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8368" y="2084832"/>
            <a:ext cx="3307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  <a:latin typeface="Calibri"/>
              </a:rPr>
              <a:t>AT-RISK EXPOSURE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8368" y="2286000"/>
            <a:ext cx="3307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Calibri"/>
              </a:rPr>
              <a:t>$0.5M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0352" y="3072384"/>
            <a:ext cx="3563112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50352" y="3072384"/>
            <a:ext cx="3563112" cy="457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8368" y="3182112"/>
            <a:ext cx="3307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888"/>
                </a:solidFill>
                <a:latin typeface="Calibri"/>
              </a:rPr>
              <a:t>EXPOSURE GAP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8368" y="3383280"/>
            <a:ext cx="3307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Calibri"/>
              </a:rPr>
              <a:t>$0.5M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0352" y="4151376"/>
            <a:ext cx="35631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86AF49"/>
                </a:solidFill>
                <a:latin typeface="Calibri"/>
              </a:rPr>
              <a:t>WEEKLY RISK TREND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352" y="4370832"/>
            <a:ext cx="3563112" cy="2286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Farmer Segments &amp; Financial Exposure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Season 2025/26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" y="859536"/>
            <a:ext cx="11237976" cy="10680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75488" y="859536"/>
            <a:ext cx="54864" cy="1068019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" y="1137513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37513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5024" y="987552"/>
            <a:ext cx="749808" cy="256032"/>
          </a:xfrm>
          <a:prstGeom prst="roundRect">
            <a:avLst>
              <a:gd name="adj" fmla="val 4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35024" y="987552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316736"/>
            <a:ext cx="8129016" cy="501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Deploy 15+ field agents to Zone IIa within 48 hours — 2,900 farmers past risk…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53144" y="1137513"/>
            <a:ext cx="2560320" cy="512064"/>
          </a:xfrm>
          <a:prstGeom prst="roundRect">
            <a:avLst>
              <a:gd name="adj" fmla="val 25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3144" y="1137513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D5016"/>
                </a:solidFill>
                <a:latin typeface="Calibri"/>
              </a:rPr>
              <a:t>~180,000 kg procurement recovery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018995"/>
            <a:ext cx="11237976" cy="10680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2018995"/>
            <a:ext cx="54864" cy="1068019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6656" y="229697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29697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5024" y="2147011"/>
            <a:ext cx="749808" cy="256032"/>
          </a:xfrm>
          <a:prstGeom prst="roundRect">
            <a:avLst>
              <a:gd name="adj" fmla="val 4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35024" y="2147011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2476195"/>
            <a:ext cx="8129016" cy="501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Escalate 3,706 in-kind repayment gap cases to the GNA credit team for restruc…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53144" y="2296972"/>
            <a:ext cx="2560320" cy="512064"/>
          </a:xfrm>
          <a:prstGeom prst="roundRect">
            <a:avLst>
              <a:gd name="adj" fmla="val 25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296972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D5016"/>
                </a:solidFill>
                <a:latin typeface="Calibri"/>
              </a:rPr>
              <a:t>Recover $467K of $2.85M loan book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3178454"/>
            <a:ext cx="11237976" cy="10680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" y="3178454"/>
            <a:ext cx="54864" cy="10680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76656" y="3456432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345643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5024" y="3306470"/>
            <a:ext cx="749808" cy="256032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35024" y="330647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5024" y="3635654"/>
            <a:ext cx="8129016" cy="501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Immediate outreach to 34 Elite-tier farmers with churn signals — this cohort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3144" y="3456432"/>
            <a:ext cx="2560320" cy="512064"/>
          </a:xfrm>
          <a:prstGeom prst="roundRect">
            <a:avLst>
              <a:gd name="adj" fmla="val 25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3456432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D5016"/>
                </a:solidFill>
                <a:latin typeface="Calibri"/>
              </a:rPr>
              <a:t>Protect top 10% = 41% of volume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337913"/>
            <a:ext cx="11237976" cy="10680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5488" y="4337913"/>
            <a:ext cx="54864" cy="10680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76656" y="4615891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" y="461589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35024" y="4465929"/>
            <a:ext cx="749808" cy="256032"/>
          </a:xfrm>
          <a:prstGeom prst="roundRect">
            <a:avLst>
              <a:gd name="adj" fmla="val 4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5024" y="4465929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35024" y="4795113"/>
            <a:ext cx="8129016" cy="501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Run inoculant confirmation campaign for 6,553 farmers who skipped or didn't c…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53144" y="4615891"/>
            <a:ext cx="2560320" cy="512064"/>
          </a:xfrm>
          <a:prstGeom prst="roundRect">
            <a:avLst>
              <a:gd name="adj" fmla="val 25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3144" y="4615891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D5016"/>
                </a:solidFill>
                <a:latin typeface="Calibri"/>
              </a:rPr>
              <a:t>+340,000 kg if fully adopted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" y="5497372"/>
            <a:ext cx="11237976" cy="10680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75488" y="5497372"/>
            <a:ext cx="54864" cy="1068019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76656" y="5775350"/>
            <a:ext cx="512064" cy="512064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" y="577535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35024" y="5625388"/>
            <a:ext cx="749808" cy="256032"/>
          </a:xfrm>
          <a:prstGeom prst="roundRect">
            <a:avLst>
              <a:gd name="adj" fmla="val 4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35024" y="5625388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5024" y="5954572"/>
            <a:ext cx="8129016" cy="5010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Pre-allocate 12% additional warehouse capacity for Zone III, which is trackin…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53144" y="5775350"/>
            <a:ext cx="2560320" cy="512064"/>
          </a:xfrm>
          <a:prstGeom prst="roundRect">
            <a:avLst>
              <a:gd name="adj" fmla="val 25000"/>
            </a:avLst>
          </a:prstGeom>
          <a:solidFill>
            <a:srgbClr val="EEF4E2"/>
          </a:solidFill>
          <a:ln w="7620">
            <a:solidFill>
              <a:srgbClr val="DDE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53144" y="5775350"/>
            <a:ext cx="25603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D5016"/>
                </a:solidFill>
                <a:latin typeface="Calibri"/>
              </a:rPr>
              <a:t>Avoid 120,000 kg overflow loss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Priority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AI-ranked by procurement impact · Week ending May 3, 2026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88" y="658368"/>
            <a:ext cx="54543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E48A"/>
                </a:solidFill>
                <a:latin typeface="Calibri"/>
              </a:rP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877824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877824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78992"/>
            <a:ext cx="43754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Farmer sends a WhatsApp message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792224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792224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993392"/>
            <a:ext cx="43754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reads live risk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" y="2706624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06624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07792"/>
            <a:ext cx="43754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Claude generates personalised reply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" y="3621024"/>
            <a:ext cx="804672" cy="80467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3621024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22192"/>
            <a:ext cx="437540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Field agent alerted if high-risk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645152"/>
            <a:ext cx="54543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E48A"/>
                </a:solidFill>
                <a:latin typeface="Calibri"/>
              </a:rPr>
              <a:t>SEASON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4864608"/>
            <a:ext cx="1726692" cy="1097280"/>
          </a:xfrm>
          <a:prstGeom prst="roundRect">
            <a:avLst>
              <a:gd name="adj" fmla="val 9000"/>
            </a:avLst>
          </a:prstGeom>
          <a:solidFill>
            <a:srgbClr val="1A3008"/>
          </a:solidFill>
          <a:ln w="12700">
            <a:solidFill>
              <a:srgbClr val="86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4974336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E48A"/>
                </a:solidFill>
                <a:latin typeface="Calibri"/>
              </a:rPr>
              <a:t>RESPONSE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5175504"/>
            <a:ext cx="150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6AF49"/>
                </a:solidFill>
                <a:latin typeface="Calibri"/>
              </a:rPr>
              <a:t>63%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5687568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nudge engagement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9340" y="4864608"/>
            <a:ext cx="1726692" cy="1097280"/>
          </a:xfrm>
          <a:prstGeom prst="roundRect">
            <a:avLst>
              <a:gd name="adj" fmla="val 9000"/>
            </a:avLst>
          </a:prstGeom>
          <a:solidFill>
            <a:srgbClr val="1A3008"/>
          </a:solidFill>
          <a:ln w="12700">
            <a:solidFill>
              <a:srgbClr val="86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49068" y="4974336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E48A"/>
                </a:solidFill>
                <a:latin typeface="Calibri"/>
              </a:rPr>
              <a:t>MSGS / FARMER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9068" y="5175504"/>
            <a:ext cx="150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6AF49"/>
                </a:solidFill>
                <a:latin typeface="Calibri"/>
              </a:rPr>
              <a:t>7.3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49068" y="5687568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avg over season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03192" y="4864608"/>
            <a:ext cx="1726692" cy="1097280"/>
          </a:xfrm>
          <a:prstGeom prst="roundRect">
            <a:avLst>
              <a:gd name="adj" fmla="val 9000"/>
            </a:avLst>
          </a:prstGeom>
          <a:solidFill>
            <a:srgbClr val="1A3008"/>
          </a:solidFill>
          <a:ln w="12700">
            <a:solidFill>
              <a:srgbClr val="86AF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2920" y="4974336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8E48A"/>
                </a:solidFill>
                <a:latin typeface="Calibri"/>
              </a:rPr>
              <a:t>ESCALATIONS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2920" y="5175504"/>
            <a:ext cx="150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6AF49"/>
                </a:solidFill>
                <a:latin typeface="Calibri"/>
              </a:rPr>
              <a:t>1,842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2920" y="5687568"/>
            <a:ext cx="15072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8E48A"/>
                </a:solidFill>
                <a:latin typeface="Calibri"/>
              </a:rPr>
              <a:t>to field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9068" y="658368"/>
            <a:ext cx="54543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1">
                <a:solidFill>
                  <a:srgbClr val="C8E48A"/>
                </a:solidFill>
                <a:latin typeface="Calibri"/>
              </a:rPr>
              <a:t>LIVE CONVERSATION  ·  AGNES BANDA, ZONE IIA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9068" y="877824"/>
            <a:ext cx="5454396" cy="5797296"/>
          </a:xfrm>
          <a:prstGeom prst="rect">
            <a:avLst/>
          </a:prstGeom>
          <a:solidFill>
            <a:srgbClr val="111B21"/>
          </a:solidFill>
          <a:ln w="12700">
            <a:solidFill>
              <a:srgbClr val="2A39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59068" y="877824"/>
            <a:ext cx="5454396" cy="512064"/>
          </a:xfrm>
          <a:prstGeom prst="rect">
            <a:avLst/>
          </a:prstGeom>
          <a:solidFill>
            <a:srgbClr val="20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94183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44284" y="932688"/>
            <a:ext cx="47411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9EDEF"/>
                </a:solidFill>
                <a:latin typeface="Calibri"/>
              </a:rPr>
              <a:t>Agnes Banda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44284" y="1170432"/>
            <a:ext cx="47411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A884"/>
                </a:solidFill>
                <a:latin typeface="Calibri"/>
              </a:rPr>
              <a:t>online · Zone IIa · Season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8796" y="1444752"/>
            <a:ext cx="4581692" cy="566928"/>
          </a:xfrm>
          <a:prstGeom prst="rect">
            <a:avLst/>
          </a:prstGeom>
          <a:solidFill>
            <a:srgbClr val="20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60236" y="1508760"/>
            <a:ext cx="4398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9EDEF"/>
                </a:solidFill>
                <a:latin typeface="Calibri"/>
              </a:rPr>
              <a:t>My soybean leaves are turning yellow. What should I do?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1404" y="2103120"/>
            <a:ext cx="4581692" cy="1042416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52844" y="2167128"/>
            <a:ext cx="4398812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9EDEF"/>
                </a:solidFill>
                <a:latin typeface="Calibri"/>
              </a:rPr>
              <a:t>Hi Agnes! 🌱 Yellow leaves = nitrogen deficiency.
1️⃣ Apply inoculant today
2️⃣ Add top-dress if available
Reply 1 or 2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8796" y="3236976"/>
            <a:ext cx="4581692" cy="566928"/>
          </a:xfrm>
          <a:prstGeom prst="rect">
            <a:avLst/>
          </a:prstGeom>
          <a:solidFill>
            <a:srgbClr val="202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60236" y="3300984"/>
            <a:ext cx="43988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9EDEF"/>
                </a:solidFill>
                <a:latin typeface="Calibri"/>
              </a:rPr>
              <a:t>I have inoculant at home but haven't applied it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61404" y="3895344"/>
            <a:ext cx="4581692" cy="804672"/>
          </a:xfrm>
          <a:prstGeom prst="rect">
            <a:avLst/>
          </a:prstGeom>
          <a:solidFill>
            <a:srgbClr val="005C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2844" y="3959352"/>
            <a:ext cx="439881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9EDEF"/>
                </a:solidFill>
                <a:latin typeface="Calibri"/>
              </a:rPr>
              <a:t>Apply today — dissolve in water, drench roots.
Agent Joseph will call tomorrow to confirm. 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91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WhatsApp Farmer Advisor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" y="43891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8E48A"/>
                </a:solidFill>
                <a:latin typeface="Calibri"/>
              </a:rPr>
              <a:t>AI-powered · real-time · personalised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07624" y="100584"/>
            <a:ext cx="1389888" cy="420624"/>
          </a:xfrm>
          <a:prstGeom prst="roundRect">
            <a:avLst>
              <a:gd name="adj" fmla="val 15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25912" y="155448"/>
            <a:ext cx="138988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GNA  ·  2025/26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224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" y="1298448"/>
            <a:ext cx="749808" cy="749808"/>
          </a:xfrm>
          <a:prstGeom prst="roundRect">
            <a:avLst>
              <a:gd name="adj" fmla="val 10000"/>
            </a:avLst>
          </a:prstGeom>
          <a:solidFill>
            <a:srgbClr val="86A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316736"/>
            <a:ext cx="74980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13441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6AF49"/>
                </a:solidFill>
                <a:latin typeface="Calibri"/>
              </a:rPr>
              <a:t>GOOD NATURE AGRO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139696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Agri-Intelligence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79776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E48A"/>
                </a:solidFill>
                <a:latin typeface="Calibri"/>
              </a:rPr>
              <a:t>Season 2025/26  ·  Zambia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21868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E48A"/>
                </a:solidFill>
                <a:latin typeface="Calibri"/>
              </a:rPr>
              <a:t>Helping Zambian farmers reach the middle 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254496"/>
            <a:ext cx="11237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  <a:latin typeface="Calibri"/>
              </a:rPr>
              <a:t>goodnatureagro.com  ·  Chipata, Zambia  ·  Photos: Good Nature Agro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528816"/>
            <a:ext cx="1123797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6AF49"/>
                </a:solidFill>
                <a:latin typeface="Calibri"/>
              </a:rPr>
              <a:t>Built with GNA Agri-Intelligence · Powered by Claude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